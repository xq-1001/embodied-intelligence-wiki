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0" y="0"/>
            <a:ext cx="4876495" cy="6858000"/>
          </a:xfrm>
          <a:prstGeom prst="rect">
            <a:avLst/>
          </a:prstGeom>
          <a:solidFill>
            <a:srgbClr val="20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76200" cy="2286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灵犀智涌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LingXi ZhiYong  |  AI-First Embodied Robot 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2926080"/>
            <a:ext cx="18288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00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D4E0"/>
                </a:solidFill>
                <a:latin typeface="Microsoft YaHei"/>
              </a:defRPr>
            </a:pPr>
            <a:r>
              <a:t>让每一台机器人拥有可进化的"大脑"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AI-First 具身机器人操作系统</a:t>
            </a:r>
          </a:p>
          <a:p>
            <a:pPr>
              <a:spcAft>
                <a:spcPts val="150"/>
              </a:spcAft>
              <a:defRPr sz="1400" b="0">
                <a:solidFill>
                  <a:srgbClr val="8896A4"/>
                </a:solidFill>
                <a:latin typeface="Microsoft YaHei"/>
              </a:defRPr>
            </a:pPr>
            <a:r>
              <a:t>连接硬件 · 吸收模型 · 沉淀智能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12700"/>
          </a:xfrm>
          <a:prstGeom prst="rect">
            <a:avLst/>
          </a:prstGeom>
          <a:solidFill>
            <a:srgbClr val="333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D"/>
                </a:solidFill>
                <a:latin typeface="Microsoft YaHei"/>
              </a:defRPr>
            </a:pPr>
            <a:r>
              <a:t>天使轮融资计划书  |  2026年6月  |  目标融资 5亿元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2860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核心关键词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▸  VLA 原生架构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337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▸  Agentic Copilot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749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▸  多硬件统一抽象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▸  数据飞轮闭环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▸  三阶段演进路线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983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B0C4"/>
                </a:solidFill>
                <a:latin typeface="Microsoft YaHei"/>
              </a:defRPr>
            </a:pPr>
            <a:r>
              <a:t>▸  中科大顶尖团队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行业正在经历「具身智能」的落地鸿沟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Microsoft YaHei"/>
              </a:defRPr>
            </a:pPr>
            <a:r>
              <a:t>为什么我们需要一个 AI-First 的机器人操作系统？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438912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C7"/>
                </a:solidFill>
                <a:latin typeface="Microsoft YaHei"/>
              </a:defRPr>
            </a:pPr>
            <a:r>
              <a:t>模型强了，但落不了地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VLA/RL 模型在论文中指标优异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真机部署面临硬件异构、ROS碎片化、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仿真到真实域差距(Sim2Real Gap)等问题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每换一个模型 ≈ 重写一遍工程代码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实验室刷榜容易，产线稳定运行极难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3383280" cy="438912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C7"/>
                </a:solidFill>
                <a:latin typeface="Microsoft YaHei"/>
              </a:defRPr>
            </a:pPr>
            <a:r>
              <a:t>开发慢了，且无法复用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每款机器人、每个场景都需从头开发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导航/抓取/操控等能力模块无法迁移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行业缺乏统一的能力抽象与接口标准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"从0到1"重复造轮子，而非"从1到N"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快速复制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737360"/>
            <a:ext cx="3383280" cy="438912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C7"/>
                </a:solidFill>
                <a:latin typeface="Microsoft YaHei"/>
              </a:defRPr>
            </a:pPr>
            <a:r>
              <a:t>门槛高了，缺的不是硬件而是"大脑"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9456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机器人本体价格快速下降（宇树G1 ¥9.9万）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但二次开发仍需既懂AI又懂硬件的复合团队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自然语言驱动的机器人开发仍是空白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真正稀缺的不是更便宜的机器人，而是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让现有机器人变聪明的操作系统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solidFill>
            <a:srgbClr val="2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641908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D2FF"/>
                </a:solidFill>
                <a:latin typeface="Microsoft YaHei"/>
              </a:defRPr>
            </a:pPr>
            <a:r>
              <a:t>核心洞察：硬件会降价，模型会迭代，场景会碎片化 —— 真正能沉淀价值的，是连接这三者的操作系统层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AI-First Robot OS：不是再造 SDK，而是构建具身智能的操作系统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▎ 一句话定义：AI-First Robot OS帮助机器人集成商与二次开发者，用统一OS在异构硬件上快速接入、部署和持续优化VLA模型，让机器人从"可编程"走向"可自我进化"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Microsoft YaHei"/>
              </a:defRPr>
            </a:pPr>
            <a:r>
              <a:t>AI-First Robot OS 五层架构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743200"/>
            <a:ext cx="10698480" cy="5486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2743200" cy="5486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529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应用层 &amp; VLA Bridge / Copilot 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712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自然语言驱动 · Agentic Copilot · 任务编排 · 应用框架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429000"/>
            <a:ext cx="2743200" cy="5486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387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能力层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5570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导航 · 抓取 · 感知 · 遥操 · 仿真 · 数据采集/训练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114800"/>
            <a:ext cx="10698480" cy="5486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114800"/>
            <a:ext cx="2743200" cy="548640"/>
          </a:xfrm>
          <a:prstGeom prst="rect">
            <a:avLst/>
          </a:prstGeom>
          <a:solidFill>
            <a:srgbClr val="5BA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245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控制层 (MotionCtrl)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428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运动控制 · 力控 · 轨迹规划 · 双臂协调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800600"/>
            <a:ext cx="10698480" cy="5486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800600"/>
            <a:ext cx="2743200" cy="548640"/>
          </a:xfrm>
          <a:prstGeom prst="rect">
            <a:avLst/>
          </a:prstGeom>
          <a:solidFill>
            <a:srgbClr val="A07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910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机器人模型层 (RobotModel)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9286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运动学/动力学模型 · URDF/SRDF · 传感器模型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2743200" cy="548640"/>
          </a:xfrm>
          <a:prstGeom prst="rect">
            <a:avLst/>
          </a:prstGeom>
          <a:solidFill>
            <a:srgbClr val="788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5961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硬件抽象层 (HAL)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6144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统一设备驱动 · ROS2适配 · 多品牌机械臂/底盘/传感器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B7B8D"/>
                </a:solidFill>
                <a:latin typeface="Microsoft YaHei"/>
              </a:defRPr>
            </a:pPr>
            <a:r>
              <a:t>三阶段演进路线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2FF"/>
                </a:solidFill>
                <a:latin typeface="Microsoft YaHei"/>
              </a:defRPr>
            </a:pPr>
            <a:r>
              <a:t>Phase 1</a:t>
            </a:r>
            <a:br/>
            <a:r>
              <a:t>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经典SDK +</a:t>
            </a:r>
            <a:br/>
            <a:r>
              <a:t>VLA推理底座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583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Microsoft YaHei"/>
              </a:defRPr>
            </a:pPr>
            <a:r>
              <a:t>8月Demo</a:t>
            </a:r>
            <a:br/>
            <a:r>
              <a:t>完成能力闭环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6400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B8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2FF"/>
                </a:solidFill>
                <a:latin typeface="Microsoft YaHei"/>
              </a:defRPr>
            </a:pPr>
            <a:r>
              <a:t>Phase 2</a:t>
            </a:r>
            <a:br/>
            <a:r>
              <a:t>2027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AI-First</a:t>
            </a:r>
            <a:br/>
            <a:r>
              <a:t>开发平台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6583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Microsoft YaHei"/>
              </a:defRPr>
            </a:pPr>
            <a:r>
              <a:t>数据→训练→仿真</a:t>
            </a:r>
            <a:br/>
            <a:r>
              <a:t>→部署闭环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60" y="6400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B7B8D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D2FF"/>
                </a:solidFill>
                <a:latin typeface="Microsoft YaHei"/>
              </a:defRPr>
            </a:pPr>
            <a:r>
              <a:t>Phase 3</a:t>
            </a:r>
            <a:br/>
            <a:r>
              <a:t>2028+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6400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Agentic</a:t>
            </a:r>
            <a:br/>
            <a:r>
              <a:t>AI Copilot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65836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B7B8D"/>
                </a:solidFill>
                <a:latin typeface="Microsoft YaHei"/>
              </a:defRPr>
            </a:pPr>
            <a:r>
              <a:t>自然语言驱动</a:t>
            </a:r>
            <a:br/>
            <a:r>
              <a:t>机器人自进化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市场规模：万亿级赛道的"操作系统"层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B8D"/>
                </a:solidFill>
                <a:latin typeface="Microsoft YaHei"/>
              </a:defRPr>
            </a:pPr>
            <a:r>
              <a:t>具身智能是确定性增长赛道，而OS层是连接万亿硬件的价值中枢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3383280" cy="201168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全球具身智能市场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2025年市场规模：约192亿元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预计CAGR：73%（五年复合增长率）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2030年后有望形成万亿级市场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来源：艾瑞咨询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931920"/>
            <a:ext cx="3383280" cy="201168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中国具身智能融资井喷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2025年：329起融资，398.9亿元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2026年1-5月：超230起，超570亿元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百亿估值企业：8-10家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来源：IT桔子/36氪/华金证券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7040880" cy="201168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853"/>
                </a:solidFill>
                <a:latin typeface="Microsoft YaHei"/>
              </a:defRPr>
            </a:pPr>
            <a:r>
              <a:t>TAM → SAM → SOM 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6675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TAM（总可寻址市场）：全球机器人OS与开发平台市场 — 对标自动驾驶OS(Autoware/Apollo) + AI MLOps平台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 → 具身智能时代，每一台部署在真实场景的机器人都需要OS层，预计2030年全球部署量超百万台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SAM（可服务市场）：中国制造业+物流+汽车零部件领域的机器人二次开发与部署服务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 → 中国工业机器人存量超150万台（IFR 2025），人形/轮臂机器人年增量预计2027年突破5万台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SOM（可获取市场）：优先切入汽车工业场景的AI-First OS授权+软硬一体方案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 → 中国汽车制造业年产值超10万亿元，自动化改造需求最强烈、付费意愿最强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931920"/>
            <a:ext cx="7040880" cy="201168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233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为什么"OS层"是最大价值捕获点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6675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PC时代：Windows/Office 捕获了远超硬件层的价值；移动时代：iOS/Android 定义了生态格局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具身智能时代，机器人硬件会高度同质化（参考手机/PC演进史），OS层将成为差异化核心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头部公司（智元/宇树/银河通用）均在构建自己的OS能力，但未必对外开放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→ 市场上缺乏一个独立、开放、AI-Native的第三方机器人OS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估值对标：大脑/平台类公司P/S 50-70x vs 本体硬件公司P/S 7-25x（2025-2026年一级市场数据）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产品架构：三阶段演进，从可用底座到自进化平台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Phase 1 · 2026 · 经典SDK + VLA推理底座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3474720" cy="228600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8月Demo验证：完整能力闭环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① 经典机器人能力模块封装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导航 · 避障 · 抓取 · 遥操 · 仿真 · 任务编排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② VLA Bridge预埋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开源VLA模型可接入真机推理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③ 基于第三方硬件（机械臂+底盘）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证明OS可跨硬件快速构建任务闭环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④ 自然语言交互雏形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语义指令→任务拆解→执行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SDK是地基，不是卖点。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真正的价值是证明了"OS编排"能力。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474720" cy="45720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Phase 2 · 2027 · AI-First 开发平台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103120"/>
            <a:ext cx="3474720" cy="228600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EC7"/>
                </a:solidFill>
                <a:latin typeface="Microsoft YaHei"/>
              </a:defRPr>
            </a:pPr>
            <a:r>
              <a:t>数据→训练→部署 工程闭环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5603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① 多模态数据采集平台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遥操/自主/回放 · 多传感器同步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② VLA微调训练管线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支持ACT/π0.5/OpenVLA · LoRA/FSDP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③ 强化学习 + Sim2Real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仿真验证→域随机化→真机部署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④ 端侧推理部署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ONNX/TensorRT/ROS2 ModelNode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价值：把前沿模型从"论文/脚本"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变成"真机可部署能力"。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645920"/>
            <a:ext cx="3474720" cy="457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Phase 3 · 2028+ · Agentic AI Copilot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103120"/>
            <a:ext cx="3474720" cy="228600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194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自然语言驱动的机器人自进化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60320"/>
            <a:ext cx="3108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① Dev Agent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自然语言→代码生成→仿真验证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② Deploy Agent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自动部署编排→HIL硬件在环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③ Ops Agent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故障诊断→自动回滚→持续优化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④ Learn Agent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  任务失败→数据回传→微调→重试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长期想象空间：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从"机器人可编程"→"机器人可自我进化"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663440"/>
            <a:ext cx="10698480" cy="109728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Microsoft YaHei"/>
              </a:defRPr>
            </a:pPr>
            <a:r>
              <a:t>▎ 为什么必须三阶段？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"/>
              </a:spcAft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Phase 1（地基）：仅凭Demo无法判断背后是VLA、遥操还是脚本，因此必须配套清晰的架构讲解、代码封装和可复用性说明。</a:t>
            </a:r>
          </a:p>
          <a:p>
            <a:pPr>
              <a:spcAft>
                <a:spcPts val="150"/>
              </a:spcAft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Phase 2（引擎）：模型可以持续升级换代，但OS提供的是数据→训练→仿真→部署→推理之间的工程闭环，这才是真正的护城河。</a:t>
            </a:r>
          </a:p>
          <a:p>
            <a:pPr>
              <a:spcAft>
                <a:spcPts val="150"/>
              </a:spcAft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Phase 3（想象力）：把Claude Code/Codex式的Agentic AI工作方式迁移到实体机器人领域。模型越强，OS压力越小；模型不够强时，OS通过Skill编排+数据反哺把较弱模型"教会"。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943600"/>
            <a:ext cx="10698480" cy="502920"/>
          </a:xfrm>
          <a:prstGeom prst="rect">
            <a:avLst/>
          </a:prstGeom>
          <a:solidFill>
            <a:srgbClr val="18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D2FF"/>
                </a:solidFill>
                <a:latin typeface="Microsoft YaHei"/>
              </a:defRPr>
            </a:pPr>
            <a:r>
              <a:t>核心叙事：模型是OS的插件。模型越强，OS越省力；模型不够强时，OS仍能通过任务拆解、Skill编排和安全验证把较弱模型"教会"具体任务。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商业模式：三条产品线，首攻汽车工业场景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7772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软硬一体终端方案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面向制造/汽车零部件/3C/新能源</a:t>
            </a:r>
            <a:br/>
            <a:r>
              <a:t>首选交付形态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3474720" cy="256032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低成本双臂/轮臂平台（目标10-15万）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预装AI-First OS + 场景能力包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黑盒交付型：开箱即用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客户无需理解底层技术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可在合同中换取数据回流/持续服务条款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474720" cy="7772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OS / SDK 授权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19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面向OEM/机器人厂商/系统集成商/科研机构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514600"/>
            <a:ext cx="3474720" cy="256032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39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4663439" y="2971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提供接口、开发工具和模型部署能力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按机器人数量/年度授权收费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支持二次开发和模块替换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建立开发者生态和社区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成为"具身智能时代的基础设施"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599" y="1737360"/>
            <a:ext cx="3474720" cy="77724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数据与训练平台服务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2103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面向有持续迭代需求的终端客户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599" y="2514600"/>
            <a:ext cx="3474720" cy="2560320"/>
          </a:xfrm>
          <a:prstGeom prst="rect">
            <a:avLst/>
          </a:prstGeom>
          <a:solidFill>
            <a:srgbClr val="25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9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412479" y="297180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数据采集、微调训练、仿真验证闭环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支持私有化部署（数据不出域）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每次部署 = 一次能力沉淀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客户场景经验→可复用Skill/模型适配</a:t>
            </a:r>
          </a:p>
          <a:p>
            <a:pPr>
              <a:spcAft>
                <a:spcPts val="400"/>
              </a:spcAft>
              <a:defRPr sz="1100">
                <a:solidFill>
                  <a:srgbClr val="C8D2DE"/>
                </a:solidFill>
                <a:latin typeface="Microsoft YaHei"/>
              </a:defRPr>
            </a:pPr>
            <a:r>
              <a:t>• 长期：联邦式训练 · 跨客户能力泛化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03520"/>
            <a:ext cx="10698480" cy="1280160"/>
          </a:xfrm>
          <a:prstGeom prst="rect">
            <a:avLst/>
          </a:prstGeom>
          <a:solidFill>
            <a:srgbClr val="2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▎ 为什么首攻汽车工业场景？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80644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CDC"/>
                </a:solidFill>
                <a:latin typeface="Microsoft YaHei"/>
              </a:defRPr>
            </a:pPr>
            <a:r>
              <a:t>① 团队核心能力匹配：CTO吉建民曾任纽劢科技(Nullmax)CTO，全栈自研L3/L4自动驾驶系统；首席科学家张燕咏教授在自动驾驶/多模态感知领域深耕多年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062472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CDC"/>
                </a:solidFill>
                <a:latin typeface="Microsoft YaHei"/>
              </a:defRPr>
            </a:pPr>
            <a:r>
              <a:t>② 汽车制造是具身智能第一战场：工信部明确推动具身智能示范产线，汽车零部件精密装配（线束插接/螺丝锁付/质检）是标准化程度最高、付费意愿最强的场景之一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6318504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CDC"/>
                </a:solidFill>
                <a:latin typeface="Microsoft YaHei"/>
              </a:defRPr>
            </a:pPr>
            <a:r>
              <a:t>③ 差异化切入：自动驾驶公司做"车外的机器人"，我们做"产线上的机器人"——技术栈高度复用（感知→规划→控制），但竞品尚未充分覆盖产线内操作场景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进展与里程碑（天使轮阶段）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▎ 天使轮阶段，核心进展体现在团队、技术路线与Demo规划层面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5080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团队就位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803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中科大顶尖团队组建完成：首席科学家（AI/具身智能方向H-index 58）+ CTO（RoboCup世界冠军/前Nullmax CTO）+ 产品总裁（RSS/ICRA顶会论文35篇）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5080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技术路线共识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886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完成两轮技术路径研讨（2026.05），确立"AI-First Robot OS"核心叙事，明确五层架构与三阶段演进路线，内部达成SDK是地基、OS是卖点的共识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572000"/>
            <a:ext cx="5080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8月Demo规划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目标：基于第三方硬件（机械臂+底盘），在汽车零部件场景中展示完整任务闭环：语义指令→导航→感知→抓取→搬运→放置，证明OS的系统编排价值，辅以VLA推理接入与自然语言交互雏形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77840"/>
            <a:ext cx="50800" cy="7315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577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融资启动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897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ED0"/>
                </a:solidFill>
                <a:latin typeface="Microsoft YaHei"/>
              </a:defRPr>
            </a:pPr>
            <a:r>
              <a:t>天使轮目标融资5亿元（2026年度含Pre-A轮），支撑Phase 1完整交付与Phase 2启动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竞争格局：在"开放OS"象限建立独特定位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B8D"/>
                </a:solidFill>
                <a:latin typeface="Microsoft YaHei"/>
              </a:defRPr>
            </a:pPr>
            <a:r>
              <a:t>▎ 具身智能行业的两大分化轴：开放 vs 封闭 × 硬件优先 vs AI/OS优先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2651760" cy="64008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星海图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开放SDK/</a:t>
            </a:r>
            <a:br/>
            <a:r>
              <a:t>二次开发平台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最直接的Phase 1对标。星海图SDK的</a:t>
            </a:r>
            <a:br/>
            <a:r>
              <a:t>价值在于"默认能跑、可替换"，但</a:t>
            </a:r>
            <a:br/>
            <a:r>
              <a:t>其AI-Native程度有限，缺少VLA原生</a:t>
            </a:r>
            <a:br/>
            <a:r>
              <a:t>架构和Agentic Copilot路线图。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286000"/>
            <a:ext cx="2651760" cy="64008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宇树科技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底层运动控制</a:t>
            </a:r>
            <a:br/>
            <a:r>
              <a:t>简单指令调用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3063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SDK偏底层运动控制，不足以支持复</a:t>
            </a:r>
            <a:br/>
            <a:r>
              <a:t>杂移动操作任务的低成本二次开发。</a:t>
            </a:r>
            <a:br/>
            <a:r>
              <a:t>其核心商业模式是卖硬件，OS层非</a:t>
            </a:r>
            <a:br/>
            <a:r>
              <a:t>其战略重心。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2651760" cy="64008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智元/银河通用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内部OS能力</a:t>
            </a:r>
            <a:br/>
            <a:r>
              <a:t>但不对外开放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63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头部公司内部大概率已具备能力层、</a:t>
            </a:r>
            <a:br/>
            <a:r>
              <a:t>VLA和Agentic布局，但商业定位偏</a:t>
            </a:r>
            <a:br/>
            <a:r>
              <a:t>向终端黑盒交付，OS层不对第三方</a:t>
            </a:r>
            <a:br/>
            <a:r>
              <a:t>开放。这恰好是我们的机会窗口。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286000"/>
            <a:ext cx="2651760" cy="640080"/>
          </a:xfrm>
          <a:prstGeom prst="rect">
            <a:avLst/>
          </a:prstGeom>
          <a:solidFill>
            <a:srgbClr val="22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NVIDIA/云厂商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5603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D2FF"/>
                </a:solidFill>
                <a:latin typeface="Microsoft YaHei"/>
              </a:defRPr>
            </a:pPr>
            <a:r>
              <a:t>Phase 2可能</a:t>
            </a:r>
            <a:br/>
            <a:r>
              <a:t>形成生态竞争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06324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在训练/部署平台层，NVIDIA Isaac</a:t>
            </a:r>
            <a:br/>
            <a:r>
              <a:t>/Omniverse等可能构成竞争。但GPU</a:t>
            </a:r>
            <a:br/>
            <a:r>
              <a:t>厂商的OS更偏底层算力管理，缺少</a:t>
            </a:r>
            <a:br/>
            <a:r>
              <a:t>机器人任务层的语义理解和编排。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114800"/>
            <a:ext cx="10698480" cy="2011680"/>
          </a:xfrm>
          <a:prstGeom prst="rect">
            <a:avLst/>
          </a:prstGeom>
          <a:solidFill>
            <a:srgbClr val="18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▎ 灵犀智涌的差异化定位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2DE"/>
                </a:solidFill>
                <a:latin typeface="Microsoft YaHei"/>
              </a:defRPr>
            </a:pPr>
            <a:r>
              <a:t>✓ 独立第三方 · 开放OS：不绑定特定硬件品牌，不锁定特定模型，不以卖硬件为主要商业模式 —— 这是与所有头部整机公司OS方案的本质区别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89204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2DE"/>
                </a:solidFill>
                <a:latin typeface="Microsoft YaHei"/>
              </a:defRPr>
            </a:pPr>
            <a:r>
              <a:t>✓ AI-Native · VLA原生：从Phase 1起即为VLA模型接入预埋标准接口（VLA Bridge），而非在传统SDK上"外挂AI模块"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166359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2DE"/>
                </a:solidFill>
                <a:latin typeface="Microsoft YaHei"/>
              </a:defRPr>
            </a:pPr>
            <a:r>
              <a:t>✓ Agentic Copilot · 长期壁垒：Phase 3的Agentic Copilot路线图（自然语言→任务拆解→Skill编排→仿真验证→部署运维）是短期难以复制的系统级能力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440679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2DE"/>
                </a:solidFill>
                <a:latin typeface="Microsoft YaHei"/>
              </a:defRPr>
            </a:pPr>
            <a:r>
              <a:t>✓ 跨硬件可迁移：基于第三方硬件完成Demo，证明了OS的硬件无关性 —— 客户可自主选择硬件，OS层提供统一的智能体验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715000"/>
            <a:ext cx="10332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D2DE"/>
                </a:solidFill>
                <a:latin typeface="Microsoft YaHei"/>
              </a:defRPr>
            </a:pPr>
            <a:r>
              <a:t>✓ 团队稀缺性：CTO吉建民是极少数具备"RoboCup世界冠军 + 自动驾驶CTO + VLA全栈自研"三重背景的复合型人才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核心团队：中科大系 · "学术理论—工程落地—商业变现"全栈闭环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474720" cy="7772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张燕咏 教授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首席科学家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3474720" cy="3840480"/>
          </a:xfrm>
          <a:prstGeom prst="rect">
            <a:avLst/>
          </a:prstGeom>
          <a:solidFill>
            <a:srgbClr val="1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中国科学技术大学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  人工智能与数据科学学院执行院长、讲席教授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0837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谷歌学术引用 18,000+ ，H-index 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095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发表论文 300+ 篇（AI/具身智能/多模态感知/AI Infra）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07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主持NSF/国家级项目累计超 7.3亿元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11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IEEE P3184国际标准工作组 主席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13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ACM中国理事会 副主席（2020-2024）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142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方向：具身智能、多模态融合感知、端边云协同、自动驾驶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1538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6A4"/>
                </a:solidFill>
                <a:latin typeface="Microsoft YaHei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914400" y="441655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→ 为团队提供学术前沿视野、重大项目资源与行业标准话语权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59" y="1737360"/>
            <a:ext cx="3474720" cy="777240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19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吉建民 教授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首席技术官 (CTO)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59" y="2514600"/>
            <a:ext cx="3474720" cy="3840480"/>
          </a:xfrm>
          <a:prstGeom prst="rect">
            <a:avLst/>
          </a:prstGeom>
          <a:solidFill>
            <a:srgbClr val="1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39" y="26060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中国科学技术大学 计算机学院副教授、博导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2807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前纽劢科技(Nullmax) CTO · 全栈自研L3/L4自动驾驶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39" y="300837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前穿山甲机器人首席科学家 · 年产十万台级商业产品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39" y="32095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RoboCup@Home 世界冠军（"可佳""佳佳"机器人）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34107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AI期刊《Artificial Intelligence》评为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3611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  "全球机器人认知技术十年最佳技术方案"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39" y="3813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华为"火花奖" · 六大顶会高级程序委员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39" y="40142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VLA全栈自研：数据采集→模型架构→训练→真机部署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39" y="421538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6A4"/>
                </a:solidFill>
                <a:latin typeface="Microsoft YaHei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663439" y="441655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→ 极少数打通"学术→工程→商业化"闭环的实战派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599" y="1737360"/>
            <a:ext cx="3474720" cy="77724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6759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段逸凡 博士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59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产品总裁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599" y="2514600"/>
            <a:ext cx="3474720" cy="3840480"/>
          </a:xfrm>
          <a:prstGeom prst="rect">
            <a:avLst/>
          </a:prstGeom>
          <a:solidFill>
            <a:srgbClr val="1E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9" y="260604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中国科学技术大学 计算机学院博士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79" y="280720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顶会/顶刊论文 35篇（IJRR/RSS/CVPR/ICRA/IROS/MobiCom）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9" y="300837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累计引用 300+ · 开源项目 200+ GitHub Stars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79" y="320954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STDArm（RSS 2025）：从静态数据训练到动态操作策略迁移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79" y="3410712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CELLmap（ICRA 2025）：LiDAR SLAM弹性球面地图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79" y="3611880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Map++（MobiCom 2024 CCF-A）：用户参与式视觉SLAM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79" y="3813048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• 已在无人物流车/矿井自动驾驶/校园无人集群中完成应用验证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79" y="4014216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896A4"/>
                </a:solidFill>
                <a:latin typeface="Microsoft YaHei"/>
              </a:defRPr>
            </a:pPr>
          </a:p>
        </p:txBody>
      </p:sp>
      <p:sp>
        <p:nvSpPr>
          <p:cNvPr id="45" name="TextBox 44"/>
          <p:cNvSpPr txBox="1"/>
          <p:nvPr/>
        </p:nvSpPr>
        <p:spPr>
          <a:xfrm>
            <a:off x="8412479" y="4215384"/>
            <a:ext cx="31089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D2DE"/>
                </a:solidFill>
                <a:latin typeface="Microsoft YaHei"/>
              </a:defRPr>
            </a:pPr>
            <a:r>
              <a:t>→ 从算法研究→系统工程→产品落地的完整能力链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solidFill>
            <a:srgbClr val="2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6464808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D2FF"/>
                </a:solidFill>
                <a:latin typeface="Microsoft YaHei"/>
              </a:defRPr>
            </a:pPr>
            <a:r>
              <a:t>团队稀缺性：CTO吉建民是全球极少数同时具备"机器人世界冠军 + 自动驾驶量产CTO + VLA全栈自研 + 华为联合创新"经历的复合型人才；首席科学家张燕咏是具身智能领域学术影响力(H-index 58)最高的华人学者之一。团队呈现"学术纵深 × 工程闭环 × 商业验证"的三位一体结构。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融资计划：5亿元支撑「Phase 1交付 + Phase 2启动」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solidFill>
            <a:srgbClr val="2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本轮融资概览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融资目标：5亿元（2026年度，天使轮 + Pre-A轮）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轮次安排：天使轮（首关）+ Pre-A轮（跟关），预计2026年内完成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资金用途拆分（预计）：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研发投入（核心）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3154680"/>
            <a:ext cx="1645920" cy="20116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60% (3.0亿)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团队扩张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474720"/>
            <a:ext cx="548640" cy="20116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3429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20% (1.0亿)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硬件采购与测试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3794760"/>
            <a:ext cx="274320" cy="20116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91840" y="3749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10% (0.5亿)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69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运营与储备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4114799"/>
            <a:ext cx="274320" cy="201168"/>
          </a:xfrm>
          <a:prstGeom prst="rect">
            <a:avLst/>
          </a:prstGeom>
          <a:solidFill>
            <a:srgbClr val="006E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B8D"/>
                </a:solidFill>
                <a:latin typeface="Microsoft YaHei"/>
              </a:defRPr>
            </a:pPr>
            <a:r>
              <a:t>10% (0.5亿)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737360"/>
            <a:ext cx="5486400" cy="1828800"/>
          </a:xfrm>
          <a:prstGeom prst="rect">
            <a:avLst/>
          </a:prstGeom>
          <a:solidFill>
            <a:srgbClr val="20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  <a:latin typeface="Microsoft YaHei"/>
              </a:defRPr>
            </a:pPr>
            <a:r>
              <a:t>本轮资金支撑的核心里程碑（12-18个月）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286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✓ 2026.08：完成Phase 1 Demo — 基于第三方硬件的汽车零部件场景完整任务闭环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5603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✓ 2026.Q4：发布AI-First Robot OS v1.0 开发者预览版（含VLA Bridge）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8346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✓ 2027.Q1：完成2-3个汽车工业场景POC，获得首个付费客户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10896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✓ 2027.Q2：启动Phase 2开发平台建设（数据采集/训练/仿真/部署管线）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38328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✓ 2027.Q3-Q4：交付首批软硬一体终端方案，实现千万级营收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6576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6217920" y="393192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下一轮融资预期时间：2027年下半年（A轮）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2062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D2DE"/>
                </a:solidFill>
                <a:latin typeface="Microsoft YaHei"/>
              </a:defRPr>
            </a:pPr>
            <a:r>
              <a:t>触发条件：≥3个付费客户 · 年化营收3000万+ · Phase 2平台初步可用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solidFill>
            <a:srgbClr val="18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Microsoft YaHei"/>
              </a:defRPr>
            </a:pPr>
            <a:r>
              <a:t>▎ 为什么5亿元？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赛道门槛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634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具身智能是重研发赛道。头部公司单轮融资已达10-25亿元，5亿元天使轮在行业中处于合理区间。充足的资金确保团队在窗口期内专注研发，而非过早分散精力追逐收入。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59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人才密度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59" y="46634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具身智能OS需要同时具备机器人工程 + VLA模型 + Agentic AI + 工业场景理解的复合型团队。高质量人才极度稀缺且昂贵，1亿元团队预算支撑20-25人精锐团队12-18个月。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599" y="438912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硬件投入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599" y="46634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ED0"/>
                </a:solidFill>
                <a:latin typeface="Microsoft YaHei"/>
              </a:defRPr>
            </a:pPr>
            <a:r>
              <a:t>多品牌机械臂/底盘采购、真机测试环境搭建、GPU算力集群（训练+仿真）是刚性支出。以10-15台异构硬件平台搭建测试矩阵，GPU训练集群租赁/采购，约需0.5亿元。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548640"/>
            <a:ext cx="54864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6EC7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58368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财务预测：本轮略（天使轮阶段）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天使轮阶段暂不提供详细财务预测。下一轮（A轮）融资时将基于付费客户数据、单位经济模型和Phase 2平台进展提供3年财务展望。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1645920"/>
            <a:ext cx="48764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具身智能不是又一个机器人赛道。</a:t>
            </a:r>
            <a:br/>
            <a:r>
              <a:t>它是 AI 从数字世界走向物理世界的桥梁。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而这座桥梁的"操作系统"，就是我们正在构建的。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4114800"/>
            <a:ext cx="4876495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B7B8D"/>
                </a:solidFill>
                <a:latin typeface="Microsoft YaHei"/>
              </a:defRPr>
            </a:pPr>
            <a:r>
              <a:t>灵犀智涌  ·  AI-First Embodied Robot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B8D"/>
                </a:solidFill>
                <a:latin typeface="Microsoft YaHei"/>
              </a:defRPr>
            </a:pPr>
            <a:r>
              <a:t>天使轮融资计划书  |  2026年6月  |  目标融资 5亿元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